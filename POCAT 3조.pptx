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7" r:id="rId4"/>
    <p:sldId id="260" r:id="rId5"/>
    <p:sldId id="258" r:id="rId6"/>
    <p:sldId id="259" r:id="rId7"/>
    <p:sldId id="261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43" autoAdjust="0"/>
    <p:restoredTop sz="91803" autoAdjust="0"/>
  </p:normalViewPr>
  <p:slideViewPr>
    <p:cSldViewPr snapToGrid="0">
      <p:cViewPr varScale="1">
        <p:scale>
          <a:sx n="101" d="100"/>
          <a:sy n="101" d="100"/>
        </p:scale>
        <p:origin x="536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D059E-29FD-40C0-A7DC-5545BD8C90FE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C269F5-AB4B-40BF-8FC2-B8692E7588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518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대화 처리 루프</a:t>
            </a:r>
            <a:r>
              <a:rPr lang="en-US" altLang="ko-KR" dirty="0"/>
              <a:t>]</a:t>
            </a:r>
            <a:br>
              <a:rPr lang="en-US" altLang="ko-KR" dirty="0"/>
            </a:br>
            <a:r>
              <a:rPr lang="en-US" altLang="ko-KR" dirty="0"/>
              <a:t>1. app.py &lt;- </a:t>
            </a:r>
            <a:r>
              <a:rPr lang="en-US" altLang="ko-KR" dirty="0" err="1"/>
              <a:t>streamlit</a:t>
            </a:r>
            <a:r>
              <a:rPr lang="en-US" altLang="ko-KR" dirty="0"/>
              <a:t> </a:t>
            </a:r>
            <a:r>
              <a:rPr lang="ko-KR" altLang="en-US" dirty="0"/>
              <a:t>구현한 파일로 </a:t>
            </a:r>
            <a:r>
              <a:rPr lang="ko-KR" altLang="en-US" dirty="0" err="1"/>
              <a:t>챗봇</a:t>
            </a:r>
            <a:r>
              <a:rPr lang="ko-KR" altLang="en-US" dirty="0"/>
              <a:t> 실행 파일 </a:t>
            </a:r>
            <a:r>
              <a:rPr lang="en-US" altLang="ko-KR" dirty="0"/>
              <a:t>: </a:t>
            </a:r>
            <a:r>
              <a:rPr lang="ko-KR" altLang="en-US" dirty="0"/>
              <a:t>사용자 입력</a:t>
            </a:r>
            <a:br>
              <a:rPr lang="ko-KR" altLang="en-US" dirty="0"/>
            </a:br>
            <a:r>
              <a:rPr lang="en-US" altLang="ko-KR" dirty="0"/>
              <a:t>2. </a:t>
            </a:r>
            <a:r>
              <a:rPr lang="ko-KR" altLang="en-US" dirty="0"/>
              <a:t>사용자 질문을 </a:t>
            </a:r>
            <a:r>
              <a:rPr lang="en-US" altLang="ko-KR" dirty="0"/>
              <a:t>graph/state.py</a:t>
            </a:r>
            <a:r>
              <a:rPr lang="ko-KR" altLang="en-US" dirty="0"/>
              <a:t>에 업데이트</a:t>
            </a:r>
            <a:br>
              <a:rPr lang="ko-KR" altLang="en-US" dirty="0"/>
            </a:br>
            <a:r>
              <a:rPr lang="en-US" altLang="ko-KR" dirty="0"/>
              <a:t>3. </a:t>
            </a:r>
            <a:r>
              <a:rPr lang="ko-KR" altLang="en-US" dirty="0"/>
              <a:t>질문이 담긴 </a:t>
            </a:r>
            <a:r>
              <a:rPr lang="en-US" altLang="ko-KR" dirty="0"/>
              <a:t>state</a:t>
            </a:r>
            <a:r>
              <a:rPr lang="ko-KR" altLang="en-US" dirty="0"/>
              <a:t>가 </a:t>
            </a:r>
            <a:r>
              <a:rPr lang="en-US" altLang="ko-KR" dirty="0"/>
              <a:t>START -&gt; Supervisor </a:t>
            </a:r>
            <a:r>
              <a:rPr lang="ko-KR" altLang="en-US" dirty="0"/>
              <a:t>노드로 전달</a:t>
            </a:r>
            <a:br>
              <a:rPr lang="ko-KR" altLang="en-US" dirty="0"/>
            </a:br>
            <a:r>
              <a:rPr lang="en-US" altLang="ko-KR" dirty="0"/>
              <a:t>4. supervisor.py</a:t>
            </a:r>
            <a:r>
              <a:rPr lang="ko-KR" altLang="en-US" dirty="0"/>
              <a:t>에서 </a:t>
            </a:r>
            <a:r>
              <a:rPr lang="en-US" altLang="ko-KR" dirty="0"/>
              <a:t>supervisor agent</a:t>
            </a:r>
            <a:r>
              <a:rPr lang="ko-KR" altLang="en-US" dirty="0"/>
              <a:t>가 </a:t>
            </a:r>
            <a:r>
              <a:rPr lang="en-US" altLang="ko-KR" dirty="0"/>
              <a:t>LLM</a:t>
            </a:r>
            <a:r>
              <a:rPr lang="ko-KR" altLang="en-US" dirty="0"/>
              <a:t>으로 질문 분석해서 </a:t>
            </a:r>
            <a:r>
              <a:rPr lang="en-US" altLang="ko-KR" dirty="0"/>
              <a:t>next agent </a:t>
            </a:r>
            <a:r>
              <a:rPr lang="ko-KR" altLang="en-US" dirty="0"/>
              <a:t>반환</a:t>
            </a:r>
            <a:br>
              <a:rPr lang="ko-KR" altLang="en-US" dirty="0"/>
            </a:br>
            <a:r>
              <a:rPr lang="en-US" altLang="ko-KR" dirty="0"/>
              <a:t>5. ["</a:t>
            </a:r>
            <a:r>
              <a:rPr lang="en-US" altLang="ko-KR" dirty="0" err="1"/>
              <a:t>product_agent</a:t>
            </a:r>
            <a:r>
              <a:rPr lang="en-US" altLang="ko-KR" dirty="0"/>
              <a:t>", "</a:t>
            </a:r>
            <a:r>
              <a:rPr lang="en-US" altLang="ko-KR" dirty="0" err="1"/>
              <a:t>analysis_agent</a:t>
            </a:r>
            <a:r>
              <a:rPr lang="en-US" altLang="ko-KR" dirty="0"/>
              <a:t>", "</a:t>
            </a:r>
            <a:r>
              <a:rPr lang="en-US" altLang="ko-KR" dirty="0" err="1"/>
              <a:t>recommend_agent</a:t>
            </a:r>
            <a:r>
              <a:rPr lang="en-US" altLang="ko-KR" dirty="0"/>
              <a:t>", "FINISH"] </a:t>
            </a:r>
            <a:r>
              <a:rPr lang="ko-KR" altLang="en-US" dirty="0"/>
              <a:t>중 반환된 에이전트 실행</a:t>
            </a:r>
            <a:br>
              <a:rPr lang="ko-KR" altLang="en-US" dirty="0"/>
            </a:br>
            <a:r>
              <a:rPr lang="en-US" altLang="ko-KR" dirty="0"/>
              <a:t>6. </a:t>
            </a:r>
            <a:r>
              <a:rPr lang="ko-KR" altLang="en-US" dirty="0"/>
              <a:t>에이전트는 필요한 도구를 </a:t>
            </a:r>
            <a:r>
              <a:rPr lang="en-US" altLang="ko-KR" dirty="0"/>
              <a:t>banking_tools.py</a:t>
            </a:r>
            <a:r>
              <a:rPr lang="ko-KR" altLang="en-US" dirty="0"/>
              <a:t>에서 호출</a:t>
            </a:r>
            <a:br>
              <a:rPr lang="ko-KR" altLang="en-US" dirty="0"/>
            </a:br>
            <a:r>
              <a:rPr lang="en-US" altLang="ko-KR" dirty="0"/>
              <a:t>7. </a:t>
            </a:r>
            <a:r>
              <a:rPr lang="ko-KR" altLang="en-US" dirty="0"/>
              <a:t>최종 응답 생성 및 출력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69F5-AB4B-40BF-8FC2-B8692E75883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6547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69F5-AB4B-40BF-8FC2-B8692E75883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4290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C269F5-AB4B-40BF-8FC2-B8692E75883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4556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8A024-63C5-F8DE-D35A-9C74A72C72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72F51A-1AA1-A9B1-CA0C-A90D1477CF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FBEE19-8D87-E0CC-0B10-6C16E802F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C06745-A29B-3679-DED9-0568E75F5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81B7B5-9AE4-3E9E-8E88-512D65C4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54230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C33326-5401-8F83-84C0-33F9D94E9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D71605-74C3-1DC3-FA78-214FB84CD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A29EA41-0269-4A4D-B9B7-61A464C8A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EDB923-5EF8-0F67-A399-093DCC1CC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27CC97-C141-C951-2B9E-9D64F0D5E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3283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722DF2-9998-6B0E-E381-1604F4735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29E7F7-3FDB-44C2-9CA7-816B7718A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9DACEA-AD0C-E46A-0123-C055F5EF3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34C312-916A-7100-C994-335BB060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C58320-7447-1AA8-4AD5-1ADC3021A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34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FD8D7-B71F-024E-5048-996B93D3D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E00106-2C66-6200-2BBE-44D22785A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8EB9F3-ADB7-4E8D-B9CE-1B96CA9098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326846-29C1-092D-2C36-553296F3B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014479-27B9-14B8-18C3-90766FDC5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7EC682-7A07-10DE-DB46-3E8C74D9F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408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07889D-BE18-75C1-F735-3FABF4F75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EE7102-FBA7-B2CD-4CFF-D3D4D1ACD4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74A1C8D-CABC-43A7-2C81-70C00867FA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8BD1DB3-6A8A-E581-803D-269150ED9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8EEA761-902F-D7A6-F67A-CF7969464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EEB974D-302B-BE51-EB93-AC13E74F2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E382F2-8DC2-DA8D-9135-7E6FB7A2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32661F-ADDA-E782-AEC1-CA2B0990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80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2EE508-6A52-FE5F-DFB7-9AF5511A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C2D2310-4E08-0DB4-9681-77C6DD312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0CD85A1-13AE-6823-06DF-987DAE2F9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A3D24A7-7753-37B9-6E7F-A83D773DD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2277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4B502B0-C609-8121-9C05-35914F924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DEF3BA6-CA6F-6404-08FE-7B8039D15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1532424-30DE-945D-FD41-74BFB97F6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96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6FB2-F689-1237-3B15-903796BA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8732B1-1B4B-B870-0960-93592CF69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454E699-5AE2-D4D4-FBFB-F6E5B45D9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814353E-B0D9-ADF2-7DD3-42E3726C8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AF0E099-124E-97DE-D897-DE97912B5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F319F6-C251-944A-2B1A-4F6318EB3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539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D76A98-E025-EEDE-E1D7-B4D3C393C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AA7F888-036F-B2AF-7203-580503BD86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2FF74A6-EE19-ADC6-DAC6-401C5843B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8CE735-3280-52DA-8C6B-7FE5274FA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C8E6FA-8F80-E8F1-87F7-9B13EAE95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8F58B8-CAA2-C36F-6B74-0146BC93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7925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907B9B-0FBE-5329-08EE-4117609D2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8958A5D-910D-D513-4917-B8EA189377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CF429E-673D-8457-FCE0-9F3C9EF58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436A4C-3E51-5D78-F154-0075261CF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F30C1A6-299B-A671-12AF-7B0989F1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419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B11B291-4145-F264-ABEE-887920544A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6659FA-71FE-6643-8802-EF1690112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89ABCF-9E1C-7557-4C72-CA46F106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8690D3-08FB-1BD6-01A3-1540635B8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40E2E3-45B9-AA7F-A065-9BD36868F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113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7ACAAF-C7FF-86BA-3C44-BCAAF5CAB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B9372A0-139B-6F4F-3249-FAE41787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626CC6-28CD-B470-9875-BE35A8D58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294724-2411-44D8-80EB-A3CEE9B52798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FF28E2-6E97-E58C-9653-82F7E78D4D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B0308-8C0D-A4D2-09B6-3153554754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6E06D-AD0F-4BC6-8C29-AD44CF1DAD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635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1D2F4-B1DE-A2D2-C759-C1623C0B3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 anchor="ctr">
            <a:normAutofit/>
          </a:bodyPr>
          <a:lstStyle/>
          <a:p>
            <a:r>
              <a:rPr lang="en-US" altLang="ko-KR" sz="4000" dirty="0">
                <a:latin typeface="BC 카드 B" panose="02020603020101020101" pitchFamily="18" charset="-127"/>
                <a:ea typeface="BC 카드 B" panose="02020603020101020101" pitchFamily="18" charset="-127"/>
              </a:rPr>
              <a:t>POCAT 3</a:t>
            </a:r>
            <a:r>
              <a:rPr lang="ko-KR" altLang="en-US" sz="4000" dirty="0">
                <a:latin typeface="BC 카드 B" panose="02020603020101020101" pitchFamily="18" charset="-127"/>
                <a:ea typeface="BC 카드 B" panose="02020603020101020101" pitchFamily="18" charset="-127"/>
              </a:rPr>
              <a:t>조</a:t>
            </a:r>
            <a:br>
              <a:rPr lang="en-US" altLang="ko-KR" sz="40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ko-KR" altLang="en-US" sz="4000" dirty="0" err="1">
                <a:latin typeface="BC 카드 B" panose="02020603020101020101" pitchFamily="18" charset="-127"/>
                <a:ea typeface="BC 카드 B" panose="02020603020101020101" pitchFamily="18" charset="-127"/>
              </a:rPr>
              <a:t>예적금</a:t>
            </a:r>
            <a:r>
              <a:rPr lang="ko-KR" altLang="en-US" sz="4000" dirty="0">
                <a:latin typeface="BC 카드 B" panose="02020603020101020101" pitchFamily="18" charset="-127"/>
                <a:ea typeface="BC 카드 B" panose="02020603020101020101" pitchFamily="18" charset="-127"/>
              </a:rPr>
              <a:t> 상담 에이전트</a:t>
            </a:r>
          </a:p>
        </p:txBody>
      </p:sp>
    </p:spTree>
    <p:extLst>
      <p:ext uri="{BB962C8B-B14F-4D97-AF65-F5344CB8AC3E}">
        <p14:creationId xmlns:p14="http://schemas.microsoft.com/office/powerpoint/2010/main" val="3687964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D972F-BF1F-E23F-94BA-D65F14A02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3288C-391C-1551-AFF2-8E34225447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029" y="1204198"/>
            <a:ext cx="2784113" cy="685970"/>
          </a:xfrm>
        </p:spPr>
        <p:txBody>
          <a:bodyPr anchor="ctr">
            <a:normAutofit/>
          </a:bodyPr>
          <a:lstStyle/>
          <a:p>
            <a:r>
              <a:rPr lang="ko-KR" altLang="en-US" sz="4000" dirty="0">
                <a:latin typeface="BC 카드 B" panose="02020603020101020101" pitchFamily="18" charset="-127"/>
                <a:ea typeface="BC 카드 B" panose="02020603020101020101" pitchFamily="18" charset="-127"/>
              </a:rPr>
              <a:t>기획의도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0EF21-6ACA-9713-E5B8-4B28DB9ABA92}"/>
              </a:ext>
            </a:extLst>
          </p:cNvPr>
          <p:cNvSpPr txBox="1"/>
          <p:nvPr/>
        </p:nvSpPr>
        <p:spPr>
          <a:xfrm>
            <a:off x="597326" y="2129365"/>
            <a:ext cx="113266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고객이 직접 금융상품을 탐색하지 않아도 상담 과정에서 고객의 금융 </a:t>
            </a:r>
            <a:endParaRPr lang="en-US" altLang="ko-KR" sz="2800" dirty="0">
              <a:latin typeface="BC 카드 B" panose="02020603020101020101" pitchFamily="18" charset="-127"/>
              <a:ea typeface="BC 카드 B" panose="02020603020101020101" pitchFamily="18" charset="-127"/>
            </a:endParaRPr>
          </a:p>
          <a:p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목표와 가입 조건을 분석하여 최적의 예</a:t>
            </a:r>
            <a:r>
              <a:rPr lang="en-US" altLang="ko-KR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·</a:t>
            </a:r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적금 상품을 추천하고</a:t>
            </a:r>
            <a:r>
              <a:rPr lang="en-US" altLang="ko-KR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, </a:t>
            </a:r>
          </a:p>
          <a:p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기존 가입 상품과 신규 상품의 수익성과 조건을 비교해 유지</a:t>
            </a:r>
            <a:r>
              <a:rPr lang="en-US" altLang="ko-KR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·</a:t>
            </a:r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해지</a:t>
            </a:r>
            <a:r>
              <a:rPr lang="en-US" altLang="ko-KR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·</a:t>
            </a:r>
          </a:p>
          <a:p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갈아타기 여부까지 판단할 수 있는 </a:t>
            </a:r>
            <a:r>
              <a:rPr lang="ko-KR" altLang="en-US" sz="2800" dirty="0" err="1">
                <a:latin typeface="BC 카드 B" panose="02020603020101020101" pitchFamily="18" charset="-127"/>
                <a:ea typeface="BC 카드 B" panose="02020603020101020101" pitchFamily="18" charset="-127"/>
              </a:rPr>
              <a:t>예적금</a:t>
            </a:r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 상담 </a:t>
            </a:r>
            <a:r>
              <a:rPr lang="en-US" altLang="ko-KR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Agent</a:t>
            </a:r>
            <a:r>
              <a:rPr lang="ko-KR" altLang="en-US" sz="2800" dirty="0">
                <a:latin typeface="BC 카드 B" panose="02020603020101020101" pitchFamily="18" charset="-127"/>
                <a:ea typeface="BC 카드 B" panose="02020603020101020101" pitchFamily="18" charset="-127"/>
              </a:rPr>
              <a:t>를 개발</a:t>
            </a:r>
            <a:endParaRPr lang="en-US" altLang="ko-KR" sz="2800" dirty="0">
              <a:latin typeface="BC 카드 B" panose="02020603020101020101" pitchFamily="18" charset="-127"/>
              <a:ea typeface="BC 카드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688828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F1125-C45B-96B1-3848-B2DF03EA0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34D83ED6-A915-14C8-55CD-3BD56DFBB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306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EF9C36-C482-BA0D-4B2E-F7951DCC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560DE66-6A86-781E-AB7B-8EB68B4587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A36F89-B20B-3CC8-A9C6-04B80F8A6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5417"/>
            <a:ext cx="12192000" cy="6567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88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10E5C-0BDC-C0DC-D5CA-565D39F4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4EDA4CCC-E0F9-A2BC-93D0-414BA6A4BA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781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42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1B2C5-06E9-33E9-462F-3509CFC0D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A35462-E842-032D-1954-467CAD7968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84842"/>
            <a:ext cx="12192000" cy="5688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85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1ADB1-C123-476D-BC26-9F681592A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2DD203-3B60-6514-5B4A-22524FB040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17500"/>
            <a:ext cx="12293600" cy="5994400"/>
          </a:xfrm>
        </p:spPr>
        <p:txBody>
          <a:bodyPr anchor="ctr">
            <a:normAutofit/>
          </a:bodyPr>
          <a:lstStyle/>
          <a:p>
            <a:pPr algn="l"/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현재 구현 시 문제점 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1)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가입 가능 여부 검증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X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 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-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 공무원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/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자영업자에게 군인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·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장병 전용 상품 추천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2)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복합 질문 처리 능력 부족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 -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“상품 추천 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+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갈아타기 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+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중도해지 분석” 같이 여러 요청이 들어가면 응답이 끊기거나                                                                                       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reasoning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이 중간에 생략되는 경우가 있음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3)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약관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(PDF)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기반 설명보다 일반 금융 상식을 사용하는 문제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  -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 실제 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PDF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약관 기반 설명보다 “일반적인 </a:t>
            </a: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KB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우대조건” 식으로 </a:t>
            </a:r>
            <a:b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</a:br>
            <a:r>
              <a:rPr lang="en-US" altLang="ko-KR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      </a:t>
            </a:r>
            <a:r>
              <a:rPr lang="ko-KR" altLang="en-US" sz="2400" dirty="0">
                <a:latin typeface="BC 카드 B" panose="02020603020101020101" pitchFamily="18" charset="-127"/>
                <a:ea typeface="BC 카드 B" panose="02020603020101020101" pitchFamily="18" charset="-127"/>
              </a:rPr>
              <a:t>답변하는 경우가 많음 </a:t>
            </a:r>
          </a:p>
        </p:txBody>
      </p:sp>
    </p:spTree>
    <p:extLst>
      <p:ext uri="{BB962C8B-B14F-4D97-AF65-F5344CB8AC3E}">
        <p14:creationId xmlns:p14="http://schemas.microsoft.com/office/powerpoint/2010/main" val="637819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253</Words>
  <Application>Microsoft Office PowerPoint</Application>
  <PresentationFormat>와이드스크린</PresentationFormat>
  <Paragraphs>11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BC 카드 B</vt:lpstr>
      <vt:lpstr>맑은 고딕</vt:lpstr>
      <vt:lpstr>Arial</vt:lpstr>
      <vt:lpstr>Office 테마</vt:lpstr>
      <vt:lpstr>POCAT 3조 예적금 상담 에이전트</vt:lpstr>
      <vt:lpstr>기획의도</vt:lpstr>
      <vt:lpstr>PowerPoint 프레젠테이션</vt:lpstr>
      <vt:lpstr>PowerPoint 프레젠테이션</vt:lpstr>
      <vt:lpstr>PowerPoint 프레젠테이션</vt:lpstr>
      <vt:lpstr>PowerPoint 프레젠테이션</vt:lpstr>
      <vt:lpstr>현재 구현 시 문제점   1) 가입 가능 여부 검증X  - 공무원/자영업자에게 군인·장병 전용 상품 추천  2) 복합 질문 처리 능력 부족  - “상품 추천 + 갈아타기 + 중도해지 분석” 같이 여러 요청이 들어가면 응답이 끊기거나                                                                                       reasoning이 중간에 생략되는 경우가 있음  3) 약관(PDF) 기반 설명보다 일반 금융 상식을 사용하는 문제   -  실제 PDF 약관 기반 설명보다 “일반적인 KB 우대조건” 식으로        답변하는 경우가 많음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Chung Hyeon LEE</dc:creator>
  <cp:lastModifiedBy>Chung Hyeon LEE</cp:lastModifiedBy>
  <cp:revision>1</cp:revision>
  <dcterms:created xsi:type="dcterms:W3CDTF">2026-05-30T04:24:54Z</dcterms:created>
  <dcterms:modified xsi:type="dcterms:W3CDTF">2026-05-30T05:29:27Z</dcterms:modified>
</cp:coreProperties>
</file>